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1"/>
  </p:normalViewPr>
  <p:slideViewPr>
    <p:cSldViewPr snapToGrid="0">
      <p:cViewPr varScale="1">
        <p:scale>
          <a:sx n="110" d="100"/>
          <a:sy n="110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54421B-299A-427B-B8A5-C597354D455C}"/>
              </a:ext>
            </a:extLst>
          </p:cNvPr>
          <p:cNvSpPr>
            <a:spLocks noGrp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CA7775-14D1-4985-911F-FF2BFFC47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anchor="b">
            <a:normAutofit/>
          </a:bodyPr>
          <a:lstStyle>
            <a:lvl1pPr>
              <a:buNone/>
              <a:defRPr sz="3600">
                <a:solidFill>
                  <a:schemeClr val="accent1"/>
                </a:solidFill>
              </a:defRPr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5B879-1C90-4FB0-8870-9510CEA5A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07EAB-7A0A-46F8-9807-29F79AE2AD6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buNone/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F4D2A2D-7627-5C43-95EF-D8CC1FA2A439}" type="datetime1">
              <a:t>2026/10/15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61E57-94D2-4435-A968-C65A0DA3F1B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buNone/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BB9A4-4A7D-47B2-8776-E7945A88B8E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buNone/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47BE9D1-40F6-41B9-BF49-C122900A0857}"/>
              </a:ext>
            </a:extLst>
          </p:cNvPr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706F08-608A-464F-8D04-EDA8BDE6B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>
            <a:lvl1pPr>
              <a:buNone/>
              <a:defRPr cap="none" baseline="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89FB1-E8FD-485C-8E79-D43BAC3FB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52D4B-E59E-4A25-A200-921F26631AF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D5B299-01AC-8647-8797-B9BBE0928A37}" type="datetime1">
              <a:t>2026/10/15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BDB01-548D-4A1F-A969-40DB78A4D5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BCB9C-4948-49EC-945D-F3DF62BA94D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23233B-28D2-4FC2-8408-C2FA19752A20}"/>
              </a:ext>
            </a:extLst>
          </p:cNvPr>
          <p:cNvSpPr>
            <a:spLocks noGrp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C0A87-FF7E-43B2-A6B7-DECDD9447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buNone/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142D7-808B-4476-96B4-33B38CEDB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573DC-7A99-4D24-8441-D153AEBC669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80510DB-62DC-A048-B240-929B126D34FE}" type="datetime1">
              <a:t>2026/10/15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47EAD-664A-48E6-A407-B9976E1B34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B3835-5BF7-43E7-A789-EF450340E3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56D257F-937B-4163-84E3-C990027DE82A}"/>
              </a:ext>
            </a:extLst>
          </p:cNvPr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29F288-3C92-4FA6-A7CD-2B847B31F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C9F2C-1DFB-4C86-8DF4-7AB1D7891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CDA32-CD4E-4F48-936C-012481B3430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1D603-8186-49DF-BDEE-7DED6F2998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CEA114-BFB9-4546-B523-8B5852E28AE5}" type="datetime1">
              <a:t>2026/10/15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83A4C-801E-4C4D-8C87-BBB7F3C61E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16A4B-93D0-44D2-893C-44AAE6E899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E5942F4-21E7-497A-A6A2-23D50B8799D1}"/>
              </a:ext>
            </a:extLst>
          </p:cNvPr>
          <p:cNvSpPr>
            <a:spLocks noGrp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6E9D167-2A18-44E3-8B71-13614EED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72C78-AC19-41A7-95A8-0349F2068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1AEC9-0E2B-4623-ABBD-92F420EB71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2185D-347E-45D4-ACAD-7CDC001D1A0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B7E05-D8B7-42B0-8166-8294D60DE12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535C68-A00A-47F5-BC07-0C867AE1BD3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4AB252C-8AAA-0B44-84E2-BBF42E854E56}" type="datetime1">
              <a:t>2026/10/15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7ED514-1EC4-4B6F-B666-51C2F8588F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B5C7F5-4408-49F9-9024-F7B3DCB608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C3C3DC-791B-45F0-94FA-06AF81085CA2}"/>
              </a:ext>
            </a:extLst>
          </p:cNvPr>
          <p:cNvSpPr>
            <a:spLocks noGrp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8B8505-D439-448D-8707-0FC9BD152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27B04-37C1-458F-9F52-CA0FB6CBA0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E150C7C-A764-594E-93CD-FBEDE232FEC7}" type="datetime1">
              <a:t>2026/10/15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241D92-190A-418F-9A0E-8EF584B5C3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36173-A232-4A25-9696-679D627A82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1D9A7-9C21-4EE9-9224-7092CC8B58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C6B9205-FB02-5241-9625-159572C159E3}" type="datetime1">
              <a:t>2026/10/15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C2D67-4737-465F-B41F-A393777D4D1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F60B7-3085-402E-8B71-BB041ABED2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595614-48A9-4AB9-9A5D-3968E0305131}"/>
              </a:ext>
            </a:extLst>
          </p:cNvPr>
          <p:cNvSpPr>
            <a:spLocks noGrp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BFFC7C-850C-448B-990E-1AE7708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buNone/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B1B74-2D34-42C7-8969-2DACC0F61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buNone/>
              <a:defRPr sz="20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2"/>
                </a:solidFill>
              </a:defRPr>
            </a:lvl2pPr>
            <a:lvl3pPr>
              <a:buNone/>
              <a:defRPr sz="1600">
                <a:solidFill>
                  <a:schemeClr val="tx2"/>
                </a:solidFill>
              </a:defRPr>
            </a:lvl3pPr>
            <a:lvl4pPr>
              <a:buNone/>
              <a:defRPr sz="1400">
                <a:solidFill>
                  <a:schemeClr val="tx2"/>
                </a:solidFill>
              </a:defRPr>
            </a:lvl4pPr>
            <a:lvl5pPr>
              <a:buNone/>
              <a:defRPr sz="1400">
                <a:solidFill>
                  <a:schemeClr val="tx2"/>
                </a:solidFill>
              </a:defRPr>
            </a:lvl5pPr>
            <a:lvl6pPr>
              <a:buNone/>
              <a:defRPr sz="1400">
                <a:solidFill>
                  <a:schemeClr val="tx2"/>
                </a:solidFill>
              </a:defRPr>
            </a:lvl6pPr>
            <a:lvl7pPr>
              <a:buNone/>
              <a:defRPr sz="1400">
                <a:solidFill>
                  <a:schemeClr val="tx2"/>
                </a:solidFill>
              </a:defRPr>
            </a:lvl7pPr>
            <a:lvl8pPr>
              <a:buNone/>
              <a:defRPr sz="1400">
                <a:solidFill>
                  <a:schemeClr val="tx2"/>
                </a:solidFill>
              </a:defRPr>
            </a:lvl8pPr>
            <a:lvl9pPr>
              <a:buNone/>
              <a:defRPr sz="1400">
                <a:solidFill>
                  <a:schemeClr val="tx2"/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11FAD4-1C5C-439E-904F-8C155E1FB96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EE3F8-8170-4EF0-90AF-679179057DA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859E07B-B6B9-BE4E-BDBD-45DBE0F65CD0}" type="datetime1">
              <a:t>2026/10/15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C44E5-CEC8-4B1D-A825-F4B057C52F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1F419-0E33-4EC4-984C-1C4039261F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679D3-87A2-451F-BD6D-7453A82F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buNone/>
              <a:defRPr sz="2400" b="0">
                <a:solidFill>
                  <a:schemeClr val="accent1"/>
                </a:solidFill>
              </a:defRPr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884E0F-6325-4E5C-BA72-A8A41203E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C985E-5A20-4C34-88DE-194F4C1643A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4D8B-5B99-4646-9BAA-A1AE7C68EF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BFA68F2-E632-C948-B218-9E1E98725D1C}" type="datetime1">
              <a:t>2026/10/15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4B2B5-B38E-4D09-8032-FA31A3A804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4744F-D788-46FE-BBC7-998AA693A2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4E36C6-6C9C-4EE9-A6D6-94FD89DB0416}"/>
              </a:ext>
            </a:extLst>
          </p:cNvPr>
          <p:cNvSpPr>
            <a:spLocks noGrp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727C4E7-41AA-4B48-A73A-4B7B09BC5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4F895-6EA4-44DD-B89C-FCAC2F5D2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 anchor="t"/>
          <a:lstStyle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FFD75-AAA4-4E22-83AB-934B40637E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BBD6BBB-5A3D-9648-953B-DCF35BE8CE44}" type="datetime1">
              <a:t>2026/10/15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8B795-9099-4750-92CC-203988BBC56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BCBC8-07B9-4EB5-81F0-767FEEE92E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262BD3-CC74-46E1-8D93-E792AA89481D}"/>
              </a:ext>
            </a:extLst>
          </p:cNvPr>
          <p:cNvSpPr>
            <a:spLocks noGrp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854329-0C37-417E-8E3A-83747FD6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D4354-A5F6-4F2B-8667-D226FAD9E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75B08-03EE-4FB8-A8E4-88CBCE7D091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buNone/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DDC02FB-C4CC-B941-8E45-A8EAF8A2C83F}" type="datetime1">
              <a:t>2026/10/15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3F86F-9A8E-45C2-A5FA-701EAC6740E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18B15-1DF2-49C3-851E-8F43BE435EF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buNone/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02E506-70B0-4664-9F5B-0247061A7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FA27D-7EB8-4155-9FCD-7F7A94564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2 レベル</a:t>
            </a:r>
          </a:p>
          <a:p>
            <a:pPr lvl="2">
              <a:buNone/>
            </a:pPr>
            <a:r>
              <a:t>第 3 レベル</a:t>
            </a:r>
          </a:p>
          <a:p>
            <a:pPr lvl="3">
              <a:buNone/>
            </a:pPr>
            <a:r>
              <a:t>第 4 レベル</a:t>
            </a:r>
          </a:p>
          <a:p>
            <a:pPr lvl="4">
              <a:buNone/>
            </a:pPr>
            <a:r>
              <a:t>第 5 レベル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82307-09E2-41B2-96D3-CD543D7B4DFD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2"/>
                </a:solidFill>
              </a:defRPr>
            </a:lvl1pPr>
          </a:lstStyle>
          <a:p>
            <a:fld id="{F11CC8EC-CDBE-AA41-A111-72EF0B4CB64B}" type="datetime1">
              <a:t>2026/10/15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32B2E-EC8C-41EF-AB01-5F638396FB7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 cap="all">
                <a:solidFill>
                  <a:schemeClr val="accent2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C79BC-B993-4A60-AE73-E49995B0870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t>‹#›</a:t>
            </a:fld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6B13B4-E12A-4661-B1B5-4AA0A816A0FC}"/>
              </a:ext>
            </a:extLst>
          </p:cNvPr>
          <p:cNvSpPr>
            <a:spLocks noGrp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C02BFB-B13E-45AB-A141-B63CB276E797}"/>
              </a:ext>
            </a:extLst>
          </p:cNvPr>
          <p:cNvSpPr>
            <a:spLocks noGrp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98F377-3683-40FC-8C8C-CA53A6D5E68C}"/>
              </a:ext>
            </a:extLst>
          </p:cNvPr>
          <p:cNvSpPr>
            <a:spLocks noGrp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lt"/>
          <a:cs typeface="+mj-lt"/>
        </a:defRPr>
      </a:lvl1pPr>
      <a:lvl2pPr>
        <a:buNone/>
        <a:defRPr>
          <a:solidFill>
            <a:schemeClr val="tx2"/>
          </a:solidFill>
        </a:defRPr>
      </a:lvl2pPr>
      <a:lvl3pPr>
        <a:buNone/>
        <a:defRPr>
          <a:solidFill>
            <a:schemeClr val="tx2"/>
          </a:solidFill>
        </a:defRPr>
      </a:lvl3pPr>
      <a:lvl4pPr>
        <a:buNone/>
        <a:defRPr>
          <a:solidFill>
            <a:schemeClr val="tx2"/>
          </a:solidFill>
        </a:defRPr>
      </a:lvl4pPr>
      <a:lvl5pPr>
        <a:buNone/>
        <a:defRPr>
          <a:solidFill>
            <a:schemeClr val="tx2"/>
          </a:solidFill>
        </a:defRPr>
      </a:lvl5pPr>
      <a:lvl6pPr>
        <a:buNone/>
        <a:defRPr>
          <a:solidFill>
            <a:schemeClr val="tx2"/>
          </a:solidFill>
        </a:defRPr>
      </a:lvl6pPr>
      <a:lvl7pPr>
        <a:buNone/>
        <a:defRPr>
          <a:solidFill>
            <a:schemeClr val="tx2"/>
          </a:solidFill>
        </a:defRPr>
      </a:lvl7pPr>
      <a:lvl8pPr>
        <a:buNone/>
        <a:defRPr>
          <a:solidFill>
            <a:schemeClr val="tx2"/>
          </a:solidFill>
        </a:defRPr>
      </a:lvl8pPr>
      <a:lvl9pPr>
        <a:buNone/>
        <a:defRPr>
          <a:solidFill>
            <a:schemeClr val="tx2"/>
          </a:solidFill>
        </a:defRPr>
      </a:lvl9pPr>
    </p:titleStyle>
    <p:bodyStyle>
      <a:lvl1pPr marL="306000" indent="-306000" algn="l" defTabSz="45720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800" kern="1200">
          <a:solidFill>
            <a:schemeClr val="tx2"/>
          </a:solidFill>
          <a:latin typeface="Yu Gothic"/>
          <a:ea typeface="Yu Gothic"/>
          <a:cs typeface="Yu Gothic"/>
        </a:defRPr>
      </a:lvl1pPr>
      <a:lvl2pPr marL="630000" indent="-306000" algn="l" defTabSz="45720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800" kern="1200">
          <a:solidFill>
            <a:schemeClr val="tx2"/>
          </a:solidFill>
          <a:latin typeface="Yu Gothic"/>
          <a:ea typeface="Yu Gothic"/>
          <a:cs typeface="Yu Gothic"/>
        </a:defRPr>
      </a:lvl2pPr>
      <a:lvl3pPr marL="900000" indent="-270000" algn="l" defTabSz="45720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800" kern="1200">
          <a:solidFill>
            <a:schemeClr val="tx2"/>
          </a:solidFill>
          <a:latin typeface="Yu Gothic"/>
          <a:ea typeface="Yu Gothic"/>
          <a:cs typeface="Yu Gothic"/>
        </a:defRPr>
      </a:lvl3pPr>
      <a:lvl4pPr marL="1242000" indent="-234000" algn="l" defTabSz="45720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800" kern="1200">
          <a:solidFill>
            <a:schemeClr val="tx2"/>
          </a:solidFill>
          <a:latin typeface="Yu Gothic"/>
          <a:ea typeface="Yu Gothic"/>
          <a:cs typeface="Yu Gothic"/>
        </a:defRPr>
      </a:lvl4pPr>
      <a:lvl5pPr marL="1602000" indent="-234000" algn="l" defTabSz="45720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800" kern="1200">
          <a:solidFill>
            <a:schemeClr val="tx2"/>
          </a:solidFill>
          <a:latin typeface="Yu Gothic"/>
          <a:ea typeface="Yu Gothic"/>
          <a:cs typeface="Yu Gothic"/>
        </a:defRPr>
      </a:lvl5pPr>
      <a:lvl6pPr marL="1900000" indent="-228600" algn="l" defTabSz="45720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 kern="1200">
          <a:solidFill>
            <a:schemeClr val="tx2"/>
          </a:solidFill>
          <a:latin typeface="+mn-lt"/>
          <a:ea typeface="+mn-lt"/>
          <a:cs typeface="+mn-lt"/>
        </a:defRPr>
      </a:lvl6pPr>
      <a:lvl7pPr marL="2200000" indent="-228600" algn="l" defTabSz="45720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 kern="1200">
          <a:solidFill>
            <a:schemeClr val="tx2"/>
          </a:solidFill>
          <a:latin typeface="+mn-lt"/>
          <a:ea typeface="+mn-lt"/>
          <a:cs typeface="+mn-lt"/>
        </a:defRPr>
      </a:lvl7pPr>
      <a:lvl8pPr marL="2500000" indent="-228600" algn="l" defTabSz="45720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 kern="1200">
          <a:solidFill>
            <a:schemeClr val="tx2"/>
          </a:solidFill>
          <a:latin typeface="+mn-lt"/>
          <a:ea typeface="+mn-lt"/>
          <a:cs typeface="+mn-lt"/>
        </a:defRPr>
      </a:lvl8pPr>
      <a:lvl9pPr marL="2800000" indent="-228600" algn="l" defTabSz="45720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/>
        <a:buChar char=""/>
        <a:defRPr sz="1200" kern="120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383A0938-9A9D-6240-D59D-E4F0DBA40B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b="1">
                <a:solidFill>
                  <a:srgbClr val="153B56"/>
                </a:solidFill>
                <a:latin typeface="Yu Gothic"/>
                <a:ea typeface="Yu Gothic"/>
                <a:cs typeface="Yu Gothic"/>
              </a:rPr>
              <a:t>変圧器油温の将来予測</a:t>
            </a:r>
          </a:p>
        </p:txBody>
      </p:sp>
      <p:sp>
        <p:nvSpPr>
          <p:cNvPr id="11" name="字幕 10">
            <a:extLst>
              <a:ext uri="{FF2B5EF4-FFF2-40B4-BE49-F238E27FC236}">
                <a16:creationId xmlns:a16="http://schemas.microsoft.com/office/drawing/2014/main" id="{BE083FD2-0906-67BB-014B-CD66A93FA1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>
              <a:latin typeface="Yu Gothic"/>
              <a:ea typeface="Yu Gothic"/>
              <a:cs typeface="Yu Gothic"/>
            </a:endParaRPr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EBD8563F-D8B2-A5A2-3436-3D8DF105B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D75FED6-38D0-DE9C-92C0-6E7FA635581C}" type="slidenum">
              <a:rPr>
                <a:latin typeface="Yu Gothic"/>
                <a:ea typeface="Yu Gothic"/>
                <a:cs typeface="Yu Gothic"/>
              </a:rPr>
              <a:t>1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58384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6">
            <a:extLst>
              <a:ext uri="{FF2B5EF4-FFF2-40B4-BE49-F238E27FC236}">
                <a16:creationId xmlns:a16="http://schemas.microsoft.com/office/drawing/2014/main" id="{4C3A8110-6ECE-B846-7079-48C054A66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目次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B7EC3B5-EFAB-5346-8DB8-DA0D35438658}"/>
              </a:ext>
            </a:extLst>
          </p:cNvPr>
          <p:cNvSpPr>
            <a:spLocks noGrp="1"/>
          </p:cNvSpPr>
          <p:nvPr/>
        </p:nvSpPr>
        <p:spPr>
          <a:xfrm>
            <a:off x="581692" y="2190750"/>
            <a:ext cx="10763250" cy="390525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>
            <a:defPPr>
              <a:defRPr sz="2700">
                <a:solidFill>
                  <a:srgbClr val="294158"/>
                </a:solidFill>
                <a:latin typeface="Yu Gothic"/>
                <a:ea typeface="Yu Gothic"/>
                <a:cs typeface="Yu Gothic"/>
              </a:defRPr>
            </a:defPPr>
          </a:lstStyle>
          <a:p>
            <a:pPr marL="342900" indent="-285750" algn="l">
              <a:lnSpc>
                <a:spcPct val="165000"/>
              </a:lnSpc>
              <a:buChar char="•"/>
              <a:defRPr sz="2700">
                <a:solidFill>
                  <a:srgbClr val="294158"/>
                </a:solidFill>
                <a:latin typeface="Yu Gothic"/>
                <a:ea typeface="Yu Gothic"/>
                <a:cs typeface="Yu Gothic"/>
              </a:defRPr>
            </a:pPr>
            <a:r>
              <a:rPr sz="2400"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EDAで得た示唆　4〜11ページ</a:t>
            </a:r>
          </a:p>
          <a:p>
            <a:pPr marL="342900" indent="-285750" algn="l">
              <a:lnSpc>
                <a:spcPct val="165000"/>
              </a:lnSpc>
              <a:buChar char="•"/>
              <a:defRPr sz="2700">
                <a:solidFill>
                  <a:srgbClr val="294158"/>
                </a:solidFill>
                <a:latin typeface="Yu Gothic"/>
                <a:ea typeface="Yu Gothic"/>
                <a:cs typeface="Yu Gothic"/>
              </a:defRPr>
            </a:pPr>
            <a:r>
              <a:rPr sz="2400"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予測アプローチと設計上の工夫　13〜17ページ</a:t>
            </a:r>
          </a:p>
          <a:p>
            <a:pPr marL="342900" indent="-285750" algn="l">
              <a:lnSpc>
                <a:spcPct val="165000"/>
              </a:lnSpc>
              <a:buChar char="•"/>
              <a:defRPr sz="2700">
                <a:solidFill>
                  <a:srgbClr val="294158"/>
                </a:solidFill>
                <a:latin typeface="Yu Gothic"/>
                <a:ea typeface="Yu Gothic"/>
                <a:cs typeface="Yu Gothic"/>
              </a:defRPr>
            </a:pPr>
            <a:r>
              <a:rPr sz="2400"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モデル構築の結果　19〜25ページ</a:t>
            </a:r>
          </a:p>
          <a:p>
            <a:pPr marL="342900" indent="-285750" algn="l">
              <a:lnSpc>
                <a:spcPct val="165000"/>
              </a:lnSpc>
              <a:buChar char="•"/>
              <a:defRPr sz="2700">
                <a:solidFill>
                  <a:srgbClr val="294158"/>
                </a:solidFill>
                <a:latin typeface="Yu Gothic"/>
                <a:ea typeface="Yu Gothic"/>
                <a:cs typeface="Yu Gothic"/>
              </a:defRPr>
            </a:pPr>
            <a:r>
              <a:rPr sz="2400"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限界・課題と改善方針　27ページ</a:t>
            </a:r>
          </a:p>
        </p:txBody>
      </p:sp>
      <p:sp>
        <p:nvSpPr>
          <p:cNvPr id="20" name="スライド番号プレースホルダー 19">
            <a:extLst>
              <a:ext uri="{FF2B5EF4-FFF2-40B4-BE49-F238E27FC236}">
                <a16:creationId xmlns:a16="http://schemas.microsoft.com/office/drawing/2014/main" id="{BA42590C-C3C2-E935-5086-6131BDF280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2598689-54C9-18A7-3A19-ED76AA08988F}" type="slidenum">
              <a:rPr>
                <a:latin typeface="Yu Gothic"/>
                <a:ea typeface="Yu Gothic"/>
                <a:cs typeface="Yu Gothic"/>
              </a:rPr>
              <a:t>2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59389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383A0938-9A9D-6240-D59D-E4F0DBA40B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b="1">
                <a:solidFill>
                  <a:srgbClr val="153B56"/>
                </a:solidFill>
                <a:latin typeface="Yu Gothic"/>
                <a:ea typeface="Yu Gothic"/>
                <a:cs typeface="Yu Gothic"/>
              </a:rPr>
              <a:t>EDAで得た示唆</a:t>
            </a:r>
          </a:p>
        </p:txBody>
      </p:sp>
      <p:sp>
        <p:nvSpPr>
          <p:cNvPr id="11" name="字幕 10">
            <a:extLst>
              <a:ext uri="{FF2B5EF4-FFF2-40B4-BE49-F238E27FC236}">
                <a16:creationId xmlns:a16="http://schemas.microsoft.com/office/drawing/2014/main" id="{BE083FD2-0906-67BB-014B-CD66A93FA1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>
              <a:latin typeface="Yu Gothic"/>
              <a:ea typeface="Yu Gothic"/>
              <a:cs typeface="Yu Gothic"/>
            </a:endParaRPr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EBD8563F-D8B2-A5A2-3436-3D8DF105B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02359C0-8A7A-196E-DD58-8E6569619F09}" type="slidenum">
              <a:rPr>
                <a:latin typeface="Yu Gothic"/>
                <a:ea typeface="Yu Gothic"/>
                <a:cs typeface="Yu Gothic"/>
              </a:rPr>
              <a:t>3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5838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821AEF5-12AA-4542-9B1B-4E853DD5E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68500" y="1778000"/>
            <a:ext cx="8255000" cy="2201332"/>
          </a:xfrm>
          <a:prstGeom prst="rect">
            <a:avLst/>
          </a:prstGeom>
        </p:spPr>
      </p:pic>
      <p:pic>
        <p:nvPicPr>
          <p:cNvPr id="50" name="ETTh2 calendar graph">
            <a:extLst>
              <a:ext uri="{FF2B5EF4-FFF2-40B4-BE49-F238E27FC236}">
                <a16:creationId xmlns:a16="http://schemas.microsoft.com/office/drawing/2014/main" id="{D4EF9B61-247C-4EED-B4D8-0F0DB3C1A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68500" y="3994150"/>
            <a:ext cx="8255000" cy="2201332"/>
          </a:xfrm>
          <a:prstGeom prst="rect">
            <a:avLst/>
          </a:prstGeom>
        </p:spPr>
      </p:pic>
      <p:sp>
        <p:nvSpPr>
          <p:cNvPr id="17" name="タイトル 16">
            <a:extLst>
              <a:ext uri="{FF2B5EF4-FFF2-40B4-BE49-F238E27FC236}">
                <a16:creationId xmlns:a16="http://schemas.microsoft.com/office/drawing/2014/main" id="{BD338300-C042-7AC6-7595-3FB7FA7AF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ETTh1・ETTh2は共通した周期変動を示す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2181871-7C92-204C-8396-A81A8185CFE1}"/>
              </a:ext>
            </a:extLst>
          </p:cNvPr>
          <p:cNvSpPr>
            <a:spLocks noGrp="1"/>
          </p:cNvSpPr>
          <p:nvPr/>
        </p:nvSpPr>
        <p:spPr>
          <a:xfrm>
            <a:off x="581660" y="6223000"/>
            <a:ext cx="9652000" cy="5334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時刻別では6〜7時ごろに低く、15〜16時ごろに高い（左図）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曜日別では水曜日ごろに低く（中央図）、月別では夏に高く冬に低い（右図）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B7FA946F-B055-8CAA-3500-087C6BB74F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FD6AB9A-5F9E-5F59-51AB-3C8734130965}" type="slidenum">
              <a:rPr>
                <a:latin typeface="Yu Gothic"/>
                <a:ea typeface="Yu Gothic"/>
                <a:cs typeface="Yu Gothic"/>
              </a:rPr>
              <a:t>4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45845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タイトル 17">
            <a:extLst>
              <a:ext uri="{FF2B5EF4-FFF2-40B4-BE49-F238E27FC236}">
                <a16:creationId xmlns:a16="http://schemas.microsoft.com/office/drawing/2014/main" id="{3963AFD2-8EFB-A44C-3C3E-0721A8AE6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負荷項目の関係は系列ごとに異なる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27124EB-09BB-CE41-9398-AD0352F5E7D1}"/>
              </a:ext>
            </a:extLst>
          </p:cNvPr>
          <p:cNvSpPr>
            <a:spLocks noGrp="1"/>
          </p:cNvSpPr>
          <p:nvPr/>
        </p:nvSpPr>
        <p:spPr>
          <a:xfrm>
            <a:off x="635000" y="5778500"/>
            <a:ext cx="9525000" cy="571500"/>
          </a:xfrm>
          <a:prstGeom prst="rect">
            <a:avLst/>
          </a:prstGeom>
          <a:noFill/>
        </p:spPr>
        <p:txBody>
          <a:bodyPr vert="horz" wrap="square" anchor="t">
            <a:normAutofit fontScale="97222" lnSpcReduction="10000"/>
          </a:bodyPr>
          <a:lstStyle/>
          <a:p>
            <a:pPr marL="285750" indent="-285750" algn="l">
              <a:buFont typeface="Arial"/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同時刻のHUFLとMUFLの相関rはETTh1で0.99、ETTh2で0.06　負荷列同士の関係は系列によって異なる</a:t>
            </a:r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2536BC58-3265-2F3D-3813-2998997BAB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E5B3003-2C54-13C6-9832-7637201064DE}" type="slidenum">
              <a:rPr>
                <a:latin typeface="Yu Gothic"/>
                <a:ea typeface="Yu Gothic"/>
                <a:cs typeface="Yu Gothic"/>
              </a:rPr>
              <a:t>5</a:t>
            </a:fld>
            <a:endParaRPr>
              <a:latin typeface="Yu Gothic"/>
              <a:ea typeface="Yu Gothic"/>
              <a:cs typeface="Yu Gothic"/>
            </a:endParaRP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9A1B6A92-65B9-4B17-A12A-88286C297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24016" y="1841468"/>
            <a:ext cx="4445000" cy="3810000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BD8B3868-A181-40F4-9166-D612F9542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22984" y="1841468"/>
            <a:ext cx="444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88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A9005CF-8288-4ADD-AC40-9BE466FFE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968500"/>
            <a:ext cx="6604000" cy="3852332"/>
          </a:xfrm>
          <a:prstGeom prst="rect">
            <a:avLst/>
          </a:prstGeom>
        </p:spPr>
      </p:pic>
      <p:sp>
        <p:nvSpPr>
          <p:cNvPr id="15" name="タイトル 14">
            <a:extLst>
              <a:ext uri="{FF2B5EF4-FFF2-40B4-BE49-F238E27FC236}">
                <a16:creationId xmlns:a16="http://schemas.microsoft.com/office/drawing/2014/main" id="{F95B01B8-6E07-0ABE-1D2F-DF12505B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過去の油温の将来予測における重要性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8FE1C87-1207-A641-AFA4-78A149715D12}"/>
              </a:ext>
            </a:extLst>
          </p:cNvPr>
          <p:cNvSpPr>
            <a:spLocks noGrp="1"/>
          </p:cNvSpPr>
          <p:nvPr/>
        </p:nvSpPr>
        <p:spPr>
          <a:xfrm>
            <a:off x="7118350" y="3429000"/>
            <a:ext cx="4457700" cy="32385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油温には1時間前から24時間前まで高い自己相関が見られる（左上図）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偏自己相関では、他の時刻の影響を除いた直接的な関係を確認（右上図）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予測には現在値、過去値、前日の同時刻を使用</a:t>
            </a:r>
          </a:p>
        </p:txBody>
      </p:sp>
      <p:sp>
        <p:nvSpPr>
          <p:cNvPr id="18" name="スライド番号プレースホルダー 17">
            <a:extLst>
              <a:ext uri="{FF2B5EF4-FFF2-40B4-BE49-F238E27FC236}">
                <a16:creationId xmlns:a16="http://schemas.microsoft.com/office/drawing/2014/main" id="{CB19EF2E-700D-FA3E-E205-1BDFC63A73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C630A04-5A25-9E0C-9436-126091DB86B3}" type="slidenum">
              <a:rPr>
                <a:latin typeface="Yu Gothic"/>
                <a:ea typeface="Yu Gothic"/>
                <a:cs typeface="Yu Gothic"/>
              </a:rPr>
              <a:t>6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75468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19CAD3A-E8EC-4EF6-8D19-BF31C8CB1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968500"/>
            <a:ext cx="11163300" cy="3434861"/>
          </a:xfrm>
          <a:prstGeom prst="rect">
            <a:avLst/>
          </a:prstGeom>
        </p:spPr>
      </p:pic>
      <p:sp>
        <p:nvSpPr>
          <p:cNvPr id="16" name="タイトル 15">
            <a:extLst>
              <a:ext uri="{FF2B5EF4-FFF2-40B4-BE49-F238E27FC236}">
                <a16:creationId xmlns:a16="http://schemas.microsoft.com/office/drawing/2014/main" id="{646DB50D-CD42-39FC-D23B-D2250F67B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過去の負荷と油温の相関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668F62F-F860-6842-942D-CD7D357CBD94}"/>
              </a:ext>
            </a:extLst>
          </p:cNvPr>
          <p:cNvSpPr>
            <a:spLocks noGrp="1"/>
          </p:cNvSpPr>
          <p:nvPr/>
        </p:nvSpPr>
        <p:spPr>
          <a:xfrm>
            <a:off x="514350" y="5435600"/>
            <a:ext cx="9652000" cy="9906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6時間前の負荷と現在の油温には、項目によって弱い相関が見られる（左図）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6時間前の負荷変化と現在の油温変化の相関は、いずれも0付近で小さい（右図）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負荷は油温の水準とは関係するが、1時間単位の短期変化を直接説明しにくい</a:t>
            </a:r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52D3DDE3-64E1-1FC9-C5E0-4D3693D2AF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D7D1C8-AE23-AA48-DF65-C742588DBE47}" type="slidenum">
              <a:rPr>
                <a:latin typeface="Yu Gothic"/>
                <a:ea typeface="Yu Gothic"/>
                <a:cs typeface="Yu Gothic"/>
              </a:rPr>
              <a:t>7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695262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A3721FA1-CBF1-4219-8482-C2B074D69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9650" y="1968500"/>
            <a:ext cx="10160000" cy="3595076"/>
          </a:xfrm>
          <a:prstGeom prst="rect">
            <a:avLst/>
          </a:prstGeom>
        </p:spPr>
      </p:pic>
      <p:sp>
        <p:nvSpPr>
          <p:cNvPr id="16" name="タイトル 15">
            <a:extLst>
              <a:ext uri="{FF2B5EF4-FFF2-40B4-BE49-F238E27FC236}">
                <a16:creationId xmlns:a16="http://schemas.microsoft.com/office/drawing/2014/main" id="{DC2D50A0-3DBF-4C2D-EECC-589E5FF72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ETTh1では過去の負荷と6時間先の油温変化に相関が見られる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B58E285-6963-3343-A469-2C140AA5DA16}"/>
              </a:ext>
            </a:extLst>
          </p:cNvPr>
          <p:cNvSpPr>
            <a:spLocks noGrp="1"/>
          </p:cNvSpPr>
          <p:nvPr/>
        </p:nvSpPr>
        <p:spPr>
          <a:xfrm>
            <a:off x="514350" y="5651500"/>
            <a:ext cx="9652000" cy="6985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ETTh1では6時間前のHUFL・MUFLと6時間後の油温変化に相関が見られる（左図）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24時間平均では相関が弱い（右図）</a:t>
            </a:r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844E8A4D-8165-DDA0-DE2E-1BA182EF58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A58DA2A-B818-18A9-29C1-B697728D5BCE}" type="slidenum">
              <a:rPr>
                <a:latin typeface="Yu Gothic"/>
                <a:ea typeface="Yu Gothic"/>
                <a:cs typeface="Yu Gothic"/>
              </a:rPr>
              <a:t>8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0269367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479BE80-0771-4255-9CCA-A37B10712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9650" y="1968500"/>
            <a:ext cx="10160000" cy="3595076"/>
          </a:xfrm>
          <a:prstGeom prst="rect">
            <a:avLst/>
          </a:prstGeom>
        </p:spPr>
      </p:pic>
      <p:sp>
        <p:nvSpPr>
          <p:cNvPr id="16" name="タイトル 15">
            <a:extLst>
              <a:ext uri="{FF2B5EF4-FFF2-40B4-BE49-F238E27FC236}">
                <a16:creationId xmlns:a16="http://schemas.microsoft.com/office/drawing/2014/main" id="{A29A87E3-0CC3-F781-7F77-658F46FC2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ETTh2では負荷と6時間先の油温変化の相関が弱い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ADABA73-363A-454B-B54F-E1378DD8D7E7}"/>
              </a:ext>
            </a:extLst>
          </p:cNvPr>
          <p:cNvSpPr>
            <a:spLocks noGrp="1"/>
          </p:cNvSpPr>
          <p:nvPr/>
        </p:nvSpPr>
        <p:spPr>
          <a:xfrm>
            <a:off x="581192" y="5789449"/>
            <a:ext cx="9652000" cy="6985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ETTh2では負荷と6時間後の油温変化の相関が弱く、ETTh1と関係の方向も異なる</a:t>
            </a:r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A9EA2761-960B-2967-2BB4-95CC16ABD6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88657AE-30A1-5A7A-6A7F-315D84436430}" type="slidenum">
              <a:rPr>
                <a:latin typeface="Yu Gothic"/>
                <a:ea typeface="Yu Gothic"/>
                <a:cs typeface="Yu Gothic"/>
              </a:rPr>
              <a:t>9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79832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CE26BDA-872A-4457-AFA4-8E9408D0E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968500"/>
            <a:ext cx="11163300" cy="3721100"/>
          </a:xfrm>
          <a:prstGeom prst="rect">
            <a:avLst/>
          </a:prstGeom>
        </p:spPr>
      </p:pic>
      <p:sp>
        <p:nvSpPr>
          <p:cNvPr id="16" name="タイトル 15">
            <a:extLst>
              <a:ext uri="{FF2B5EF4-FFF2-40B4-BE49-F238E27FC236}">
                <a16:creationId xmlns:a16="http://schemas.microsoft.com/office/drawing/2014/main" id="{2EA7DB46-5826-F8EC-1746-73036995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ETTh1の負荷と油温の関係は安定しない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1E65863-CC5D-7A48-A530-71E1EBCB792E}"/>
              </a:ext>
            </a:extLst>
          </p:cNvPr>
          <p:cNvSpPr>
            <a:spLocks noGrp="1"/>
          </p:cNvSpPr>
          <p:nvPr/>
        </p:nvSpPr>
        <p:spPr>
          <a:xfrm>
            <a:off x="514350" y="5816600"/>
            <a:ext cx="9652000" cy="6096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7日間ごとの相関は正負に変動し、期間によって関係が異なる</a:t>
            </a:r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5C2CC5FC-84F5-DDEE-0B3D-3BC0D4B565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B7BEEEC-A170-5376-2B6E-CB54687B0CB1}" type="slidenum">
              <a:rPr>
                <a:latin typeface="Yu Gothic"/>
                <a:ea typeface="Yu Gothic"/>
                <a:cs typeface="Yu Gothic"/>
              </a:rPr>
              <a:t>10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04844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E2956BCC-6216-47FC-B38E-EF9D73345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968500"/>
            <a:ext cx="11163300" cy="3721100"/>
          </a:xfrm>
          <a:prstGeom prst="rect">
            <a:avLst/>
          </a:prstGeom>
        </p:spPr>
      </p:pic>
      <p:sp>
        <p:nvSpPr>
          <p:cNvPr id="16" name="タイトル 15">
            <a:extLst>
              <a:ext uri="{FF2B5EF4-FFF2-40B4-BE49-F238E27FC236}">
                <a16:creationId xmlns:a16="http://schemas.microsoft.com/office/drawing/2014/main" id="{8D08A6ED-4572-A638-927C-31939316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ETTh2の負荷と油温の関係も同様に安定しない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06E829A-1239-E647-B29B-AE100FA15804}"/>
              </a:ext>
            </a:extLst>
          </p:cNvPr>
          <p:cNvSpPr>
            <a:spLocks noGrp="1"/>
          </p:cNvSpPr>
          <p:nvPr/>
        </p:nvSpPr>
        <p:spPr>
          <a:xfrm>
            <a:off x="514350" y="5816600"/>
            <a:ext cx="9652000" cy="6096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7日間ごとの相関は正負に大きく変動し、安定した関係は見られない</a:t>
            </a:r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0CAC40F3-BC7A-3F2C-B857-B1C8997980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0394428-F1DC-E5F6-DB0C-7DE31F3D8A23}" type="slidenum">
              <a:rPr>
                <a:latin typeface="Yu Gothic"/>
                <a:ea typeface="Yu Gothic"/>
                <a:cs typeface="Yu Gothic"/>
              </a:rPr>
              <a:t>11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501232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383A0938-9A9D-6240-D59D-E4F0DBA40B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b="1">
                <a:solidFill>
                  <a:srgbClr val="153B56"/>
                </a:solidFill>
                <a:latin typeface="Yu Gothic"/>
                <a:ea typeface="Yu Gothic"/>
                <a:cs typeface="Yu Gothic"/>
              </a:rPr>
              <a:t>予測アプローチと設計上の工夫</a:t>
            </a:r>
          </a:p>
        </p:txBody>
      </p:sp>
      <p:sp>
        <p:nvSpPr>
          <p:cNvPr id="11" name="字幕 10">
            <a:extLst>
              <a:ext uri="{FF2B5EF4-FFF2-40B4-BE49-F238E27FC236}">
                <a16:creationId xmlns:a16="http://schemas.microsoft.com/office/drawing/2014/main" id="{BE083FD2-0906-67BB-014B-CD66A93FA1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>
              <a:latin typeface="Yu Gothic"/>
              <a:ea typeface="Yu Gothic"/>
              <a:cs typeface="Yu Gothic"/>
            </a:endParaRPr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EBD8563F-D8B2-A5A2-3436-3D8DF105B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DB16885-0D3F-A391-B669-3211DB3B26E8}" type="slidenum">
              <a:rPr>
                <a:latin typeface="Yu Gothic"/>
                <a:ea typeface="Yu Gothic"/>
                <a:cs typeface="Yu Gothic"/>
              </a:rPr>
              <a:t>12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58384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0D2B6010-ABF6-4E1E-8EC3-C68C2C828F14}"/>
              </a:ext>
            </a:extLst>
          </p:cNvPr>
          <p:cNvGraphicFramePr/>
          <p:nvPr/>
        </p:nvGraphicFramePr>
        <p:xfrm>
          <a:off x="514350" y="1905000"/>
          <a:ext cx="11163300" cy="3492500"/>
        </p:xfrm>
        <a:graphic>
          <a:graphicData uri="http://schemas.openxmlformats.org/drawingml/2006/table">
            <a:tbl>
              <a:tblPr/>
              <a:tblGrid>
                <a:gridCol w="1842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3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5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2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EDAの観察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モデルへ入れる情報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設計に反映した方法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検証で確認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油温に自己相関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現在・過去のOT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OT_now、1・3・6・12・24・48時間ラグ、差、6・24時間平均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単純予測と比較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時刻・曜日・季節の変動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対象時刻の暦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時刻・曜日・年内位置をsin/cos化して入力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OT＋暦HGBを評価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系列1で負荷ラグに相関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負荷6列の起点値と過去値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各列の起点値、1・3・6・12・24・48時間ラグ、6・24時間平均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OTだけのHGBと比較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負荷相関は期間で変化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時系列順のモデル検証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2017年の3期間で検証し、2018年でテスト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系列別のMAEを見る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タイトル 11">
            <a:extLst>
              <a:ext uri="{FF2B5EF4-FFF2-40B4-BE49-F238E27FC236}">
                <a16:creationId xmlns:a16="http://schemas.microsoft.com/office/drawing/2014/main" id="{B827341D-CAAB-C872-99AE-AC4AB827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EDAの示唆をモデル設計へつなげる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CB03A0C-323D-4843-99AA-700F74ACCA31}"/>
              </a:ext>
            </a:extLst>
          </p:cNvPr>
          <p:cNvSpPr>
            <a:spLocks noGrp="1"/>
          </p:cNvSpPr>
          <p:nvPr/>
        </p:nvSpPr>
        <p:spPr>
          <a:xfrm>
            <a:off x="514350" y="5549900"/>
            <a:ext cx="10033000" cy="7366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単独相関だけでは特徴量を採否しない　負荷の追加効果はOT履歴を含むモデルで比較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時系列の順序を守り、評価期間の正解を学習に混ぜない</a:t>
            </a:r>
          </a:p>
        </p:txBody>
      </p:sp>
      <p:sp>
        <p:nvSpPr>
          <p:cNvPr id="15" name="スライド番号プレースホルダー 14">
            <a:extLst>
              <a:ext uri="{FF2B5EF4-FFF2-40B4-BE49-F238E27FC236}">
                <a16:creationId xmlns:a16="http://schemas.microsoft.com/office/drawing/2014/main" id="{ECA9A33D-5334-33C8-4217-8D8F52E54F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DD23107-4986-8758-3A93-3D74F35908CC}" type="slidenum">
              <a:rPr>
                <a:latin typeface="Yu Gothic"/>
                <a:ea typeface="Yu Gothic"/>
                <a:cs typeface="Yu Gothic"/>
              </a:rPr>
              <a:t>13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09640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4C594A33-CE95-476D-9203-F8319CEF512B}"/>
              </a:ext>
            </a:extLst>
          </p:cNvPr>
          <p:cNvGraphicFramePr/>
          <p:nvPr/>
        </p:nvGraphicFramePr>
        <p:xfrm>
          <a:off x="514350" y="1905000"/>
          <a:ext cx="11163300" cy="31154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4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系列</a:t>
                      </a:r>
                    </a:p>
                  </a:txBody>
                  <a:tcPr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予測先</a:t>
                      </a:r>
                    </a:p>
                  </a:txBody>
                  <a:tcPr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単純予測：予測起点値維持 / MAE</a:t>
                      </a:r>
                    </a:p>
                  </a:txBody>
                  <a:tcPr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参考：24時間前の値 / MAE</a:t>
                      </a:r>
                    </a:p>
                  </a:txBody>
                  <a:tcPr anchor="ctr">
                    <a:solidFill>
                      <a:srgbClr val="EA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1時間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0.442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1.705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4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6時間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1.171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1.707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4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24時間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1.711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1.711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4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1時間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0.911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3.448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4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6時間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4.449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3.449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4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24時間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3.442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3.442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タイトル 17">
            <a:extLst>
              <a:ext uri="{FF2B5EF4-FFF2-40B4-BE49-F238E27FC236}">
                <a16:creationId xmlns:a16="http://schemas.microsoft.com/office/drawing/2014/main" id="{D1C72D5F-BA43-D49C-803F-7978616C7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単純予測を比較基準にする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9365BED-0EB3-E94B-8D1C-D5B3DC94B8F2}"/>
              </a:ext>
            </a:extLst>
          </p:cNvPr>
          <p:cNvSpPr>
            <a:spLocks noGrp="1"/>
          </p:cNvSpPr>
          <p:nvPr/>
        </p:nvSpPr>
        <p:spPr>
          <a:xfrm>
            <a:off x="514350" y="5232400"/>
            <a:ext cx="10033000" cy="571500"/>
          </a:xfrm>
          <a:prstGeom prst="rect">
            <a:avLst/>
          </a:prstGeom>
          <a:noFill/>
        </p:spPr>
        <p:txBody>
          <a:bodyPr vert="horz" wrap="square" anchor="t">
            <a:noAutofit/>
          </a:bodyPr>
          <a:lstStyle/>
          <a:p>
            <a:pPr algn="l">
              <a:buNone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比較基準は、予測起点時刻の油温を将来も同じとする単純予測　24時間前の油温を使う予測は参考値として併記</a:t>
            </a:r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B91FEE7C-C52C-336D-95C3-C0095361F2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27921A4-25C4-3DB4-06B1-32693CEE2241}" type="slidenum">
              <a:rPr>
                <a:latin typeface="Yu Gothic"/>
                <a:ea typeface="Yu Gothic"/>
                <a:cs typeface="Yu Gothic"/>
              </a:rPr>
              <a:t>14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075374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5782505-7280-4373-B64A-86C50F78CDB8}"/>
              </a:ext>
            </a:extLst>
          </p:cNvPr>
          <p:cNvGraphicFramePr/>
          <p:nvPr/>
        </p:nvGraphicFramePr>
        <p:xfrm>
          <a:off x="514350" y="1905000"/>
          <a:ext cx="11163300" cy="3937000"/>
        </p:xfrm>
        <a:graphic>
          <a:graphicData uri="http://schemas.openxmlformats.org/drawingml/2006/table">
            <a:tbl>
              <a:tblPr/>
              <a:tblGrid>
                <a:gridCol w="1562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428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特徴量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特徴量の作り方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この形にした理由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4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予測起点時刻の油温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予測起点時刻の油温をそのまま使用　負値も残す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直近値を予測の基準にする　絶対値化すると負値の情報が失われる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4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過去の油温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予測起点時刻の1・3・6・12・24・48時間前、予測対象時刻の24・48時間前　15分版のみ直前値も使用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直近と日周期の関係を反映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4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油温の差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予測起点時刻の油温と1時間前の差、予測起点時刻の油温と24時間前の差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油温の上昇・下降を分岐しやすくする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4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油温の平均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予測起点時刻までの6・24時間移動平均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短期変動をならした油温の水準を表す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4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暦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予測対象時刻の時刻・曜日・年内位置をsin/cos化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EDAで確認した時刻・曜日・季節の周期を表現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243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負荷6列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各列の予測起点時刻tの値、1・3・6・12・24・48時間前、予測起点時刻までの6・24時間平均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油温と同じ時間幅の過去負荷を入力　追加効果は油温のみを使うHGBと比較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タイトル 7">
            <a:extLst>
              <a:ext uri="{FF2B5EF4-FFF2-40B4-BE49-F238E27FC236}">
                <a16:creationId xmlns:a16="http://schemas.microsoft.com/office/drawing/2014/main" id="{144E9DA7-7FD9-4190-10E4-CC3368C7D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最終モデル HGB に入力する情報を整理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7CBC2259-E5F4-C72B-66A8-31F0D90AA2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A83FA91-883A-0168-8075-96CEB9DCA3C2}" type="slidenum">
              <a:rPr>
                <a:latin typeface="Yu Gothic"/>
                <a:ea typeface="Yu Gothic"/>
                <a:cs typeface="Yu Gothic"/>
              </a:rPr>
              <a:t>15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67146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6F6E5149-0C57-4D61-BC98-00FF027CFEAE}"/>
              </a:ext>
            </a:extLst>
          </p:cNvPr>
          <p:cNvGraphicFramePr/>
          <p:nvPr/>
        </p:nvGraphicFramePr>
        <p:xfrm>
          <a:off x="514350" y="1905000"/>
          <a:ext cx="11163300" cy="2286000"/>
        </p:xfrm>
        <a:graphic>
          <a:graphicData uri="http://schemas.openxmlformats.org/drawingml/2006/table">
            <a:tbl>
              <a:tblPr/>
              <a:tblGrid>
                <a:gridCol w="356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2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7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199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予測方法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学習する正解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予測の考え方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999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単純予測：現在値維持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学習なし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将来も予測起点時刻の油温と同じとする比較基準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採用した変化量予測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OT(t+h)−OT(t)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起点の油温を基準に、そこからの上昇・下降を学ぶ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タイトル 12">
            <a:extLst>
              <a:ext uri="{FF2B5EF4-FFF2-40B4-BE49-F238E27FC236}">
                <a16:creationId xmlns:a16="http://schemas.microsoft.com/office/drawing/2014/main" id="{B90C08A9-D9E8-8C55-194D-D5DB27EBE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現在の油温を基準に将来の変化量を学ぶ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18F668A-B67B-B943-B0B5-B281919AA253}"/>
              </a:ext>
            </a:extLst>
          </p:cNvPr>
          <p:cNvSpPr>
            <a:spLocks noGrp="1"/>
          </p:cNvSpPr>
          <p:nvPr/>
        </p:nvSpPr>
        <p:spPr>
          <a:xfrm>
            <a:off x="514350" y="4381500"/>
            <a:ext cx="10033000" cy="19050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予測起点時刻の油温を将来も同じとする単純予測を基準にする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HGBは予測起点時刻の油温から何度上がるか下がるかを予測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将来の油温＝予測起点時刻の油温＋予測した変化量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194EA134-6C65-022E-7679-B15F1266DA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C9C7607-4BA3-B4DC-A00F-2E67A9FCFF7E}" type="slidenum">
              <a:rPr>
                <a:latin typeface="Yu Gothic"/>
                <a:ea typeface="Yu Gothic"/>
                <a:cs typeface="Yu Gothic"/>
              </a:rPr>
              <a:t>16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95110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 12">
            <a:extLst>
              <a:ext uri="{FF2B5EF4-FFF2-40B4-BE49-F238E27FC236}">
                <a16:creationId xmlns:a16="http://schemas.microsoft.com/office/drawing/2014/main" id="{854972BC-C76B-4DE2-86B8-CD8D3518D511}"/>
              </a:ext>
            </a:extLst>
          </p:cNvPr>
          <p:cNvGraphicFramePr/>
          <p:nvPr/>
        </p:nvGraphicFramePr>
        <p:xfrm>
          <a:off x="514350" y="1905000"/>
          <a:ext cx="111633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境界</a:t>
                      </a:r>
                    </a:p>
                  </a:txBody>
                  <a:tcPr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期間</a:t>
                      </a:r>
                    </a:p>
                  </a:txBody>
                  <a:tcPr anchor="ctr">
                    <a:solidFill>
                      <a:srgbClr val="EAF1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学習で正解が確定する条件</a:t>
                      </a:r>
                    </a:p>
                  </a:txBody>
                  <a:tcPr anchor="ctr">
                    <a:solidFill>
                      <a:srgbClr val="EA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検証1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2017年4〜6月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2017年4月1日より前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検証2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2017年7〜9月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2017年7月1日より前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検証3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2017年10〜12月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2017年10月1日より前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2018年テスト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2018年1〜6月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2018年1月1日より前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タイトル 17">
            <a:extLst>
              <a:ext uri="{FF2B5EF4-FFF2-40B4-BE49-F238E27FC236}">
                <a16:creationId xmlns:a16="http://schemas.microsoft.com/office/drawing/2014/main" id="{84EFDFCB-31F3-564E-FACD-55AC56DE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過去から未来の順に学習・検証・テスト用のデータとする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1B2AB1B-159D-BA4A-9AE3-E7F35FDAF5E7}"/>
              </a:ext>
            </a:extLst>
          </p:cNvPr>
          <p:cNvSpPr>
            <a:spLocks noGrp="1"/>
          </p:cNvSpPr>
          <p:nvPr/>
        </p:nvSpPr>
        <p:spPr>
          <a:xfrm>
            <a:off x="514350" y="4762500"/>
            <a:ext cx="10033000" cy="15240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検証：2017年4〜6月、7〜9月、10〜12月の3期間　各回、正解時刻が検証開始より前の行だけで学習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再学習：2018年テスト前には、正解時刻が2018年1月1日より前の行をすべて使用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テスト：2018年1〜6月を評価　予測起点も各評価期間の開始以降に限定</a:t>
            </a:r>
          </a:p>
        </p:txBody>
      </p:sp>
      <p:sp>
        <p:nvSpPr>
          <p:cNvPr id="21" name="スライド番号プレースホルダー 20">
            <a:extLst>
              <a:ext uri="{FF2B5EF4-FFF2-40B4-BE49-F238E27FC236}">
                <a16:creationId xmlns:a16="http://schemas.microsoft.com/office/drawing/2014/main" id="{F8A65E38-A581-8276-6E0A-967AFB8F82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0F7333B-44AC-F7E9-D49D-FE92F45E0477}" type="slidenum">
              <a:rPr>
                <a:latin typeface="Yu Gothic"/>
                <a:ea typeface="Yu Gothic"/>
                <a:cs typeface="Yu Gothic"/>
              </a:rPr>
              <a:t>17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50502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383A0938-9A9D-6240-D59D-E4F0DBA40B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b="1">
                <a:solidFill>
                  <a:srgbClr val="153B56"/>
                </a:solidFill>
                <a:latin typeface="Yu Gothic"/>
                <a:ea typeface="Yu Gothic"/>
                <a:cs typeface="Yu Gothic"/>
              </a:rPr>
              <a:t>モデル構築の結果</a:t>
            </a:r>
          </a:p>
        </p:txBody>
      </p:sp>
      <p:sp>
        <p:nvSpPr>
          <p:cNvPr id="11" name="字幕 10">
            <a:extLst>
              <a:ext uri="{FF2B5EF4-FFF2-40B4-BE49-F238E27FC236}">
                <a16:creationId xmlns:a16="http://schemas.microsoft.com/office/drawing/2014/main" id="{BE083FD2-0906-67BB-014B-CD66A93FA1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>
              <a:latin typeface="Yu Gothic"/>
              <a:ea typeface="Yu Gothic"/>
              <a:cs typeface="Yu Gothic"/>
            </a:endParaRPr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EBD8563F-D8B2-A5A2-3436-3D8DF105B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1C6C81E-38B9-7560-621D-5A151A79DF9B}" type="slidenum">
              <a:rPr>
                <a:latin typeface="Yu Gothic"/>
                <a:ea typeface="Yu Gothic"/>
                <a:cs typeface="Yu Gothic"/>
              </a:rPr>
              <a:t>18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58384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87D6F8FE-8E9D-490E-B06F-4C57330A23FB}"/>
              </a:ext>
            </a:extLst>
          </p:cNvPr>
          <p:cNvGraphicFramePr/>
          <p:nvPr/>
        </p:nvGraphicFramePr>
        <p:xfrm>
          <a:off x="514350" y="1905000"/>
          <a:ext cx="11163300" cy="2286000"/>
        </p:xfrm>
        <a:graphic>
          <a:graphicData uri="http://schemas.openxmlformats.org/drawingml/2006/table">
            <a:tbl>
              <a:tblPr/>
              <a:tblGrid>
                <a:gridCol w="294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9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6時間先・3期間平均MAE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HGB：OT＋暦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HGB：OT＋暦＋負荷履歴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単純予測：現在値維持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ETTh1（時間版）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1.523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1.453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1.691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ETTm1（15分版）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1.540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1.480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1.682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ETTh2（時間版）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2.084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2.126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4.441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ETTm2（15分版）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2.078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2.151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4.433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タイトル 12">
            <a:extLst>
              <a:ext uri="{FF2B5EF4-FFF2-40B4-BE49-F238E27FC236}">
                <a16:creationId xmlns:a16="http://schemas.microsoft.com/office/drawing/2014/main" id="{DB83D4F9-2F80-EBF9-43EE-413838E8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負荷の追加効果は系列によって異なる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950993D-9859-6F40-AFCA-9A5ED5B6E9A6}"/>
              </a:ext>
            </a:extLst>
          </p:cNvPr>
          <p:cNvSpPr>
            <a:spLocks noGrp="1"/>
          </p:cNvSpPr>
          <p:nvPr/>
        </p:nvSpPr>
        <p:spPr>
          <a:xfrm>
            <a:off x="514350" y="4381500"/>
            <a:ext cx="10033000" cy="19050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ETTh1では負荷履歴を加えると1.523から1.453へ改善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ETTh2では2.084から2.126へわずかに悪化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負荷の効果は系列ごとに異なった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4F4F4BD2-1D92-860F-3ECD-7806A6CF5A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CF91274-D221-1BB4-3BF9-836E3AD31EBE}" type="slidenum">
              <a:rPr>
                <a:latin typeface="Yu Gothic"/>
                <a:ea typeface="Yu Gothic"/>
                <a:cs typeface="Yu Gothic"/>
              </a:rPr>
              <a:t>19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03358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A7D0507E-FE65-46C6-AECB-A7BE525AA9BD}"/>
              </a:ext>
            </a:extLst>
          </p:cNvPr>
          <p:cNvGraphicFramePr/>
          <p:nvPr/>
        </p:nvGraphicFramePr>
        <p:xfrm>
          <a:off x="514350" y="1905000"/>
          <a:ext cx="11163300" cy="2952206"/>
        </p:xfrm>
        <a:graphic>
          <a:graphicData uri="http://schemas.openxmlformats.org/drawingml/2006/table">
            <a:tbl>
              <a:tblPr/>
              <a:tblGrid>
                <a:gridCol w="2054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4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11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1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11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821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系列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予測先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単純予測：予測起点値維持 / MAE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HGB / MAE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差 / HGB − 単純予測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ETTh1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1時間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0.442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0.429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−0.014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ETTh1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6時間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1.171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1.150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−0.021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ETTh1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24時間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1.711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2.465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＋0.754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ETTh2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1時間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0.911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0.425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−0.486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ETTh2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6時間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4.449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2.050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−2.398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1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ETTh2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24時間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3.442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3.431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−0.011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タイトル 12">
            <a:extLst>
              <a:ext uri="{FF2B5EF4-FFF2-40B4-BE49-F238E27FC236}">
                <a16:creationId xmlns:a16="http://schemas.microsoft.com/office/drawing/2014/main" id="{CF7BF722-92BF-6943-219A-928C38534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短期予測ではHGBが単純予測を上回る場面が多い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BCD8A7B-D8FD-B145-A95E-1B214EF5C92C}"/>
              </a:ext>
            </a:extLst>
          </p:cNvPr>
          <p:cNvSpPr>
            <a:spLocks noGrp="1"/>
          </p:cNvSpPr>
          <p:nvPr/>
        </p:nvSpPr>
        <p:spPr>
          <a:xfrm>
            <a:off x="514350" y="4953000"/>
            <a:ext cx="10033000" cy="13335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ETTh2の6時間先はMAEが4.449から2.050へ改善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ETTh1の24時間先は1.711から2.465へ悪化し、単純予測の方が良い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負荷履歴の追加はETTh1の6時間先で改善し、ETTh2の6時間先ではわずかに悪化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914BE595-2FD2-F1FB-92A2-8AB4E3B572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44E025A-983C-6D44-79C6-4612AACD43FC}" type="slidenum">
              <a:rPr>
                <a:latin typeface="Yu Gothic"/>
                <a:ea typeface="Yu Gothic"/>
                <a:cs typeface="Yu Gothic"/>
              </a:rPr>
              <a:t>20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29357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52CBE53B-03E8-4F98-BCCF-A25B9718CC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00"/>
          <a:stretch/>
        </p:blipFill>
        <p:spPr>
          <a:xfrm>
            <a:off x="514350" y="1968500"/>
            <a:ext cx="11163300" cy="2976880"/>
          </a:xfrm>
          <a:prstGeom prst="rect">
            <a:avLst/>
          </a:prstGeom>
        </p:spPr>
      </p:pic>
      <p:sp>
        <p:nvSpPr>
          <p:cNvPr id="16" name="タイトル 15">
            <a:extLst>
              <a:ext uri="{FF2B5EF4-FFF2-40B4-BE49-F238E27FC236}">
                <a16:creationId xmlns:a16="http://schemas.microsoft.com/office/drawing/2014/main" id="{44843416-6BAA-0E77-B98B-665C5D100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ETTh2の6時間先は日内変動を概ね捉える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6347868-C1A1-A242-9265-3878B41C3514}"/>
              </a:ext>
            </a:extLst>
          </p:cNvPr>
          <p:cNvSpPr>
            <a:spLocks noGrp="1"/>
          </p:cNvSpPr>
          <p:nvPr/>
        </p:nvSpPr>
        <p:spPr>
          <a:xfrm>
            <a:off x="514350" y="5105400"/>
            <a:ext cx="10033000" cy="10160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上昇と下降の流れは多くの時刻で追えているが、山の高さと時刻にずれが残る（図）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MAEは単純予測4.449に対してHGB2.050</a:t>
            </a:r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7A43324F-736B-96CE-15D7-D1DF89905D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6DF2BE2-2DFA-1C03-677D-BDC2260D6D92}" type="slidenum">
              <a:rPr>
                <a:latin typeface="Yu Gothic"/>
                <a:ea typeface="Yu Gothic"/>
                <a:cs typeface="Yu Gothic"/>
              </a:rPr>
              <a:t>21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41022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9C25014-E5C7-469A-9076-87739E821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968500"/>
            <a:ext cx="11163300" cy="3069907"/>
          </a:xfrm>
          <a:prstGeom prst="rect">
            <a:avLst/>
          </a:prstGeom>
        </p:spPr>
      </p:pic>
      <p:sp>
        <p:nvSpPr>
          <p:cNvPr id="16" name="タイトル 15">
            <a:extLst>
              <a:ext uri="{FF2B5EF4-FFF2-40B4-BE49-F238E27FC236}">
                <a16:creationId xmlns:a16="http://schemas.microsoft.com/office/drawing/2014/main" id="{6CB5295C-3EF2-35C9-802E-EF8F7CBF9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ETTh1の24時間先は高めの予測が続く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3E25BC3-AA68-154C-8F6F-637FD3C6DA14}"/>
              </a:ext>
            </a:extLst>
          </p:cNvPr>
          <p:cNvSpPr>
            <a:spLocks noGrp="1"/>
          </p:cNvSpPr>
          <p:nvPr/>
        </p:nvSpPr>
        <p:spPr>
          <a:xfrm>
            <a:off x="514350" y="5181600"/>
            <a:ext cx="10033000" cy="9525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HGB予測は実測より平均2.095高く、全体のMAEは単純予測より大きい（図）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高温上位10%の時刻ではHGBの誤差が小さい</a:t>
            </a:r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F671ACB2-8961-EA1E-85A3-37E2236E73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BB18BA8-60F4-C50D-CD9B-1BB87D3E8506}" type="slidenum">
              <a:rPr>
                <a:latin typeface="Yu Gothic"/>
                <a:ea typeface="Yu Gothic"/>
                <a:cs typeface="Yu Gothic"/>
              </a:rPr>
              <a:t>22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1975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F5C727C-6358-48CC-BD1D-C2202904C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1968500"/>
            <a:ext cx="11163300" cy="2945870"/>
          </a:xfrm>
          <a:prstGeom prst="rect">
            <a:avLst/>
          </a:prstGeom>
        </p:spPr>
      </p:pic>
      <p:sp>
        <p:nvSpPr>
          <p:cNvPr id="17" name="タイトル 16">
            <a:extLst>
              <a:ext uri="{FF2B5EF4-FFF2-40B4-BE49-F238E27FC236}">
                <a16:creationId xmlns:a16="http://schemas.microsoft.com/office/drawing/2014/main" id="{DE34AC91-EA31-8F6B-ECB3-C3F55C64A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ETTh2の最高温度を6.545低く予測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D996A91-CDD8-BF4E-BD37-3C4BCAE466B8}"/>
              </a:ext>
            </a:extLst>
          </p:cNvPr>
          <p:cNvSpPr>
            <a:spLocks noGrp="1"/>
          </p:cNvSpPr>
          <p:nvPr/>
        </p:nvSpPr>
        <p:spPr>
          <a:xfrm>
            <a:off x="514350" y="5067300"/>
            <a:ext cx="10033000" cy="10414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実測の最高温度50.625に対し、6時間前の予測は44.080（図）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高温時は全体より誤差が大きく、保全利用では高温の見逃しを別に評価</a:t>
            </a:r>
          </a:p>
        </p:txBody>
      </p:sp>
      <p:sp>
        <p:nvSpPr>
          <p:cNvPr id="20" name="スライド番号プレースホルダー 19">
            <a:extLst>
              <a:ext uri="{FF2B5EF4-FFF2-40B4-BE49-F238E27FC236}">
                <a16:creationId xmlns:a16="http://schemas.microsoft.com/office/drawing/2014/main" id="{37AD7A97-AA03-48C9-7FCF-B29D5E2C79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4E99CEF-AF55-BA3C-ADF8-4E52E186DD8F}" type="slidenum">
              <a:rPr>
                <a:latin typeface="Yu Gothic"/>
                <a:ea typeface="Yu Gothic"/>
                <a:cs typeface="Yu Gothic"/>
              </a:rPr>
              <a:t>23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166732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8B987AC-5804-408A-80AA-FC36A47860B8}"/>
              </a:ext>
            </a:extLst>
          </p:cNvPr>
          <p:cNvGraphicFramePr/>
          <p:nvPr/>
        </p:nvGraphicFramePr>
        <p:xfrm>
          <a:off x="514350" y="1905000"/>
          <a:ext cx="11163300" cy="2286000"/>
        </p:xfrm>
        <a:graphic>
          <a:graphicData uri="http://schemas.openxmlformats.org/drawingml/2006/table">
            <a:tbl>
              <a:tblPr/>
              <a:tblGrid>
                <a:gridCol w="294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9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9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対象・予測時間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比較基準MAE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負荷入りHGB MAE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解釈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EA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ETTh1・6時間先／検証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OT＋暦：1.523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1.453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負荷追加で改善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ETTh2・6時間先／検証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OT＋暦：2.084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2.126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負荷追加で悪化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ETTh1・24時間先／テスト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現在値維持：1.711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2.465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単純予測が有利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ETTh2・6時間先／テスト</a:t>
                      </a:r>
                    </a:p>
                  </a:txBody>
                  <a:tcPr>
                    <a:lnL w="9525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現在値維持：4.449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2.050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3374B"/>
                          </a:solidFill>
                          <a:latin typeface="Yu Gothic"/>
                          <a:ea typeface="Yu Gothic"/>
                          <a:cs typeface="Yu Gothic"/>
                        </a:rPr>
                        <a:t>HGBが有利</a:t>
                      </a:r>
                    </a:p>
                  </a:txBody>
                  <a:tcPr>
                    <a:lnL w="9525" cmpd="sng">
                      <a:solidFill>
                        <a:srgbClr val="D7E0E6"/>
                      </a:solidFill>
                      <a:prstDash val="solid"/>
                    </a:lnL>
                    <a:lnR w="9525">
                      <a:solidFill>
                        <a:srgbClr val="D7E0E6"/>
                      </a:solidFill>
                      <a:prstDash val="solid"/>
                    </a:lnR>
                    <a:lnT w="9525" cmpd="sng">
                      <a:solidFill>
                        <a:srgbClr val="D7E0E6"/>
                      </a:solidFill>
                      <a:prstDash val="solid"/>
                    </a:lnT>
                    <a:lnB w="9525">
                      <a:solidFill>
                        <a:srgbClr val="D7E0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タイトル 12">
            <a:extLst>
              <a:ext uri="{FF2B5EF4-FFF2-40B4-BE49-F238E27FC236}">
                <a16:creationId xmlns:a16="http://schemas.microsoft.com/office/drawing/2014/main" id="{DB83D4F9-2F80-EBF9-43EE-413838E8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モデル比較から分かったこと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950993D-9859-6F40-AFCA-9A5ED5B6E9A6}"/>
              </a:ext>
            </a:extLst>
          </p:cNvPr>
          <p:cNvSpPr>
            <a:spLocks noGrp="1"/>
          </p:cNvSpPr>
          <p:nvPr/>
        </p:nvSpPr>
        <p:spPr>
          <a:xfrm>
            <a:off x="514350" y="4381500"/>
            <a:ext cx="10033000" cy="190500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ETTh1の6時間先では負荷追加が有効だが、ETTh2の6時間先では有効とは言えない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ETTh1の24時間先では、現在値維持を選ぶ方が誤差は小さい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ETTh2の高温ピークは低めに予測する傾向が残る</a:t>
            </a:r>
          </a:p>
        </p:txBody>
      </p:sp>
      <p:sp>
        <p:nvSpPr>
          <p:cNvPr id="16" name="スライド番号プレースホルダー 15">
            <a:extLst>
              <a:ext uri="{FF2B5EF4-FFF2-40B4-BE49-F238E27FC236}">
                <a16:creationId xmlns:a16="http://schemas.microsoft.com/office/drawing/2014/main" id="{4F4F4BD2-1D92-860F-3ECD-7806A6CF5A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A59AF09-D197-0193-A7DE-FAAF0B691058}" type="slidenum">
              <a:rPr>
                <a:latin typeface="Yu Gothic"/>
                <a:ea typeface="Yu Gothic"/>
                <a:cs typeface="Yu Gothic"/>
              </a:rPr>
              <a:t>24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033589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6">
            <a:extLst>
              <a:ext uri="{FF2B5EF4-FFF2-40B4-BE49-F238E27FC236}">
                <a16:creationId xmlns:a16="http://schemas.microsoft.com/office/drawing/2014/main" id="{4C3A8110-6ECE-B846-7079-48C054A66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技術検証の結論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B7EC3B5-EFAB-5346-8DB8-DA0D35438658}"/>
              </a:ext>
            </a:extLst>
          </p:cNvPr>
          <p:cNvSpPr>
            <a:spLocks noGrp="1"/>
          </p:cNvSpPr>
          <p:nvPr/>
        </p:nvSpPr>
        <p:spPr>
          <a:xfrm>
            <a:off x="581692" y="2647950"/>
            <a:ext cx="10477500" cy="276225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ETTh2の6時間先はMAEが4.449から2.050へ改善　短期予測に可能性がある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ETTh1の6時間先は負荷追加で検証MAEが1.523から1.453へ改善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ETTh1の24時間先はHGBが2.465、現在値維持が1.711で単純予測が有利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系列と予測時間ごとに、単純予測とHGBを使い分ける</a:t>
            </a:r>
          </a:p>
        </p:txBody>
      </p:sp>
      <p:sp>
        <p:nvSpPr>
          <p:cNvPr id="20" name="スライド番号プレースホルダー 19">
            <a:extLst>
              <a:ext uri="{FF2B5EF4-FFF2-40B4-BE49-F238E27FC236}">
                <a16:creationId xmlns:a16="http://schemas.microsoft.com/office/drawing/2014/main" id="{BA42590C-C3C2-E935-5086-6131BDF280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3AE1AE4-D79E-94D6-E825-3FC6C21A77D2}" type="slidenum">
              <a:rPr>
                <a:latin typeface="Yu Gothic"/>
                <a:ea typeface="Yu Gothic"/>
                <a:cs typeface="Yu Gothic"/>
              </a:rPr>
              <a:t>25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59389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383A0938-9A9D-6240-D59D-E4F0DBA40B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b="1">
                <a:solidFill>
                  <a:srgbClr val="153B56"/>
                </a:solidFill>
                <a:latin typeface="Yu Gothic"/>
                <a:ea typeface="Yu Gothic"/>
                <a:cs typeface="Yu Gothic"/>
              </a:rPr>
              <a:t>限界・課題と改善方針</a:t>
            </a:r>
          </a:p>
        </p:txBody>
      </p:sp>
      <p:sp>
        <p:nvSpPr>
          <p:cNvPr id="11" name="字幕 10">
            <a:extLst>
              <a:ext uri="{FF2B5EF4-FFF2-40B4-BE49-F238E27FC236}">
                <a16:creationId xmlns:a16="http://schemas.microsoft.com/office/drawing/2014/main" id="{BE083FD2-0906-67BB-014B-CD66A93FA1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>
              <a:latin typeface="Yu Gothic"/>
              <a:ea typeface="Yu Gothic"/>
              <a:cs typeface="Yu Gothic"/>
            </a:endParaRPr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EBD8563F-D8B2-A5A2-3436-3D8DF105B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AB55966-FA28-BC73-EA9E-53DF014DF033}" type="slidenum">
              <a:rPr>
                <a:latin typeface="Yu Gothic"/>
                <a:ea typeface="Yu Gothic"/>
                <a:cs typeface="Yu Gothic"/>
              </a:rPr>
              <a:t>26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583841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タイトル 16">
            <a:extLst>
              <a:ext uri="{FF2B5EF4-FFF2-40B4-BE49-F238E27FC236}">
                <a16:creationId xmlns:a16="http://schemas.microsoft.com/office/drawing/2014/main" id="{4C3A8110-6ECE-B846-7079-48C054A66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結果から見えた限界と次の検証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B7EC3B5-EFAB-5346-8DB8-DA0D35438658}"/>
              </a:ext>
            </a:extLst>
          </p:cNvPr>
          <p:cNvSpPr>
            <a:spLocks noGrp="1"/>
          </p:cNvSpPr>
          <p:nvPr/>
        </p:nvSpPr>
        <p:spPr>
          <a:xfrm>
            <a:off x="581692" y="2647950"/>
            <a:ext cx="10477500" cy="2762250"/>
          </a:xfrm>
          <a:prstGeom prst="rect">
            <a:avLst/>
          </a:prstGeom>
          <a:noFill/>
        </p:spPr>
        <p:txBody>
          <a:bodyPr vert="horz" wrap="square" anchor="t">
            <a:normAutofit/>
          </a:bodyPr>
          <a:lstStyle/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2018年テストではETTh2の1・6時間先でHGBが大きく改善（6時間先MAE 4.449→2.050）　他条件は差が小さいか悪化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改善は油温履歴・暦が日内変動を捉えた可能性</a:t>
            </a:r>
            <a:r>
              <a:rPr lang="ja-JP" altLang="en-US"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がある</a:t>
            </a: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　負荷追加はETTh2の6時間先で微悪化し、要因を切り分ける</a:t>
            </a:r>
          </a:p>
          <a:p>
            <a:pPr marL="342900" indent="-285750" algn="l">
              <a:buChar char="•"/>
            </a:pPr>
            <a:r>
              <a:rPr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月別平均の夏高・冬低は学習約1年半の観察　2018年結果も参照済みで、新たな複数年データで再現性を調べ</a:t>
            </a:r>
            <a:r>
              <a:rPr lang="ja-JP" altLang="en-US">
                <a:solidFill>
                  <a:srgbClr val="294158"/>
                </a:solidFill>
                <a:latin typeface="Yu Gothic"/>
                <a:ea typeface="Yu Gothic"/>
                <a:cs typeface="Yu Gothic"/>
              </a:rPr>
              <a:t>る</a:t>
            </a:r>
            <a:endParaRPr>
              <a:solidFill>
                <a:srgbClr val="294158"/>
              </a:solidFill>
              <a:latin typeface="Yu Gothic"/>
              <a:ea typeface="Yu Gothic"/>
              <a:cs typeface="Yu Gothic"/>
            </a:endParaRPr>
          </a:p>
        </p:txBody>
      </p:sp>
      <p:sp>
        <p:nvSpPr>
          <p:cNvPr id="20" name="スライド番号プレースホルダー 19">
            <a:extLst>
              <a:ext uri="{FF2B5EF4-FFF2-40B4-BE49-F238E27FC236}">
                <a16:creationId xmlns:a16="http://schemas.microsoft.com/office/drawing/2014/main" id="{BA42590C-C3C2-E935-5086-6131BDF280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2F15020-66A7-620A-7B7A-C05C4312DEAE}" type="slidenum">
              <a:rPr>
                <a:latin typeface="Yu Gothic"/>
                <a:ea typeface="Yu Gothic"/>
                <a:cs typeface="Yu Gothic"/>
              </a:rPr>
              <a:t>27</a:t>
            </a:fld>
            <a:endParaRPr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59389376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青緑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配当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青緑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lumMod val="100000"/>
                <a:alpha val="9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>
          <a:solidFill>
            <a:schemeClr val="phClr">
              <a:lumMod val="90000"/>
            </a:schemeClr>
          </a:solidFill>
          <a:prstDash val="solid"/>
        </a:ln>
        <a:ln w="222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  <a:sat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  <a:satMod val="110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配当">
  <a:themeElements>
    <a:clrScheme name="青緑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配当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青緑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lumMod val="100000"/>
                <a:alpha val="9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>
          <a:solidFill>
            <a:schemeClr val="phClr">
              <a:lumMod val="90000"/>
            </a:schemeClr>
          </a:solidFill>
          <a:prstDash val="solid"/>
        </a:ln>
        <a:ln w="222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lumMod val="88000"/>
                <a:sat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lumMod val="86000"/>
                <a:satMod val="110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868</Words>
  <Application>Microsoft Macintosh PowerPoint</Application>
  <DocSecurity>0</DocSecurity>
  <PresentationFormat>ワイド画面</PresentationFormat>
  <Paragraphs>271</Paragraphs>
  <Slides>27</Slides>
  <Notes>27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2" baseType="lpstr">
      <vt:lpstr>Yu Gothic</vt:lpstr>
      <vt:lpstr>Arial</vt:lpstr>
      <vt:lpstr>Gill Sans MT</vt:lpstr>
      <vt:lpstr>Wingdings 2</vt:lpstr>
      <vt:lpstr>配当</vt:lpstr>
      <vt:lpstr>変圧器油温の将来予測</vt:lpstr>
      <vt:lpstr>目次</vt:lpstr>
      <vt:lpstr>EDAで得た示唆</vt:lpstr>
      <vt:lpstr>ETTh1・ETTh2は共通した周期変動を示す</vt:lpstr>
      <vt:lpstr>負荷項目の関係は系列ごとに異なる</vt:lpstr>
      <vt:lpstr>過去の油温の将来予測における重要性</vt:lpstr>
      <vt:lpstr>過去の負荷と油温の相関</vt:lpstr>
      <vt:lpstr>ETTh1では過去の負荷と6時間先の油温変化に相関が見られる</vt:lpstr>
      <vt:lpstr>ETTh2では負荷と6時間先の油温変化の相関が弱い</vt:lpstr>
      <vt:lpstr>ETTh1の負荷と油温の関係は安定しない</vt:lpstr>
      <vt:lpstr>ETTh2の負荷と油温の関係も同様に安定しない</vt:lpstr>
      <vt:lpstr>予測アプローチと設計上の工夫</vt:lpstr>
      <vt:lpstr>EDAの示唆をモデル設計へつなげる</vt:lpstr>
      <vt:lpstr>単純予測を比較基準にする</vt:lpstr>
      <vt:lpstr>最終モデル HGB に入力する情報を整理</vt:lpstr>
      <vt:lpstr>現在の油温を基準に将来の変化量を学ぶ</vt:lpstr>
      <vt:lpstr>過去から未来の順に学習・検証・テスト用のデータとする</vt:lpstr>
      <vt:lpstr>モデル構築の結果</vt:lpstr>
      <vt:lpstr>負荷の追加効果は系列によって異なる</vt:lpstr>
      <vt:lpstr>短期予測ではHGBが単純予測を上回る場面が多い</vt:lpstr>
      <vt:lpstr>ETTh2の6時間先は日内変動を概ね捉える</vt:lpstr>
      <vt:lpstr>ETTh1の24時間先は高めの予測が続く</vt:lpstr>
      <vt:lpstr>ETTh2の最高温度を6.545低く予測</vt:lpstr>
      <vt:lpstr>モデル比較から分かったこと</vt:lpstr>
      <vt:lpstr>技術検証の結論</vt:lpstr>
      <vt:lpstr>限界・課題と改善方針</vt:lpstr>
      <vt:lpstr>結果から見えた限界と次の検証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shimizu.youta.86c@st.kyoto-u.ac.jp</cp:lastModifiedBy>
  <cp:revision>1</cp:revision>
  <dcterms:created xsi:type="dcterms:W3CDTF">2026-10-15T07:09:18Z</dcterms:created>
  <dcterms:modified xsi:type="dcterms:W3CDTF">2026-10-15T07:30:22Z</dcterms:modified>
</cp:coreProperties>
</file>